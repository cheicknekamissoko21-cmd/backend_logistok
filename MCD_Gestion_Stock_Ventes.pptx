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081d1d7-efb7-a3ce-1d34-69f3f373cb5b}">
          <p14:sldIdLst>
            <p14:sldId id="256"/>
            <p14:sldId id="257"/>
          </p14:sldIdLst>
        </p14:section>
        <p14:section name="Modèle par domaine" id="{5696a454-dcb2-671e-428c-7d96fed1f404}">
          <p14:sldIdLst>
            <p14:sldId id="258"/>
            <p14:sldId id="259"/>
            <p14:sldId id="260"/>
            <p14:sldId id="261"/>
          </p14:sldIdLst>
        </p14:section>
        <p14:section name="Synthèse" id="{a1e5259e-4f95-2777-4b59-69490415c964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MCD réorganisé : le schéma d'origine est découpé en quatre domaines fonctionnels pour être lu plus facilement.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modèle est découpé en quatre blocs : accès, catalogue et stock, commandes, ventes et facturation.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utilisateur possède un seul rôle ; un rôle peut être attribué à plusieurs utilisateurs. Les mouvements de stock sont enregistrés par un utilisateur.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produit appartient à une catégorie. Chaque mouvement de stock concerne un produit et est enregistré par un utilisateur.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client passe des commandes. Chaque commande contient des lignes, et chaque ligne concerne un produit.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client effectue des ventes. Chaque vente contient des lignes concernant des produits, et génère une facture.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produit est au centre du modèle : stock, commandes et ventes y sont tous reliés.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cardinalité (min,max) se lit à côté de l'entité qu'elle décrit.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points sont des questions à trancher avant de dériver le modèle logique de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MCD — Gestion de Stock &amp; Ventes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MCD — Gestion de Stock &amp; Ventes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Modèle conceptuel de données : entités et relations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1371600"/>
            <a:ext cx="1554480" cy="1554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Accès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875520" y="137160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Stock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3108960"/>
            <a:ext cx="1554480" cy="1554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Commandes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3108960"/>
            <a:ext cx="1554480" cy="1554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Ventes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11 entités · 11 relations · 4 domaines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Quatre domaines, onze entités</a:t>
            </a:r>
            <a:endParaRPr lang="en-US" sz="3600" dirty="0"/>
          </a:p>
        </p:txBody>
      </p:sp>
      <p:sp>
        <p:nvSpPr>
          <p:cNvPr id="3" name="Domaine Accès"/>
          <p:cNvSpPr/>
          <p:nvPr/>
        </p:nvSpPr>
        <p:spPr>
          <a:xfrm>
            <a:off x="548640" y="1554480"/>
            <a:ext cx="2560320" cy="448056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Accès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Qui utilise le système et avec quels droits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634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Utilisateur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Role</a:t>
            </a:r>
            <a:endParaRPr lang="en-US" sz="1400" dirty="0"/>
          </a:p>
        </p:txBody>
      </p:sp>
      <p:sp>
        <p:nvSpPr>
          <p:cNvPr id="8" name="Domaine Catalogue &amp; stock"/>
          <p:cNvSpPr/>
          <p:nvPr/>
        </p:nvSpPr>
        <p:spPr>
          <a:xfrm>
            <a:off x="3383280" y="1554480"/>
            <a:ext cx="2560320" cy="448056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Catalogue &amp; stock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Ce qui est vendu et comment le stock évolue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6634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Categorie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Produit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Mouvement_stock</a:t>
            </a:r>
            <a:endParaRPr lang="en-US" sz="1400" dirty="0"/>
          </a:p>
        </p:txBody>
      </p:sp>
      <p:sp>
        <p:nvSpPr>
          <p:cNvPr id="13" name="Domaine Commandes"/>
          <p:cNvSpPr/>
          <p:nvPr/>
        </p:nvSpPr>
        <p:spPr>
          <a:xfrm>
            <a:off x="6217920" y="1554480"/>
            <a:ext cx="2560320" cy="448056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8288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Commandes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Ce que les clients demandent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6634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Commande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Ligne_commande</a:t>
            </a:r>
            <a:endParaRPr lang="en-US" sz="1400" dirty="0"/>
          </a:p>
        </p:txBody>
      </p:sp>
      <p:sp>
        <p:nvSpPr>
          <p:cNvPr id="18" name="Domaine Ventes &amp; facturation"/>
          <p:cNvSpPr/>
          <p:nvPr/>
        </p:nvSpPr>
        <p:spPr>
          <a:xfrm>
            <a:off x="9052560" y="1554480"/>
            <a:ext cx="2560320" cy="448056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0" y="18288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Ventes &amp; facturation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Ce qui est vendu et facturé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46634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Vente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Ligne_vente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Facture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 · Accès et rôles</a:t>
            </a:r>
            <a:endParaRPr lang="en-US" sz="3600" dirty="0"/>
          </a:p>
        </p:txBody>
      </p:sp>
      <p:sp>
        <p:nvSpPr>
          <p:cNvPr id="3" name="Carte UTILISATEUR"/>
          <p:cNvSpPr/>
          <p:nvPr/>
        </p:nvSpPr>
        <p:spPr>
          <a:xfrm>
            <a:off x="1097280" y="1965960"/>
            <a:ext cx="4206240" cy="2093976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Entête UTILISATEUR"/>
          <p:cNvSpPr txBox="1"/>
          <p:nvPr/>
        </p:nvSpPr>
        <p:spPr>
          <a:xfrm>
            <a:off x="1097280" y="1463040"/>
            <a:ext cx="4206240" cy="5029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UTILISATEUR</a:t>
            </a:r>
            <a:endParaRPr lang="en-US" sz="1600" dirty="0"/>
          </a:p>
        </p:txBody>
      </p:sp>
      <p:sp>
        <p:nvSpPr>
          <p:cNvPr id="5" name="Attributs UTILISATEUR"/>
          <p:cNvSpPr txBox="1"/>
          <p:nvPr/>
        </p:nvSpPr>
        <p:spPr>
          <a:xfrm>
            <a:off x="1325880" y="2084832"/>
            <a:ext cx="37490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id_utilisateur (PK)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prenom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email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mot_de_passe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actif</a:t>
            </a:r>
            <a:endParaRPr lang="en-US" sz="1400" dirty="0"/>
          </a:p>
        </p:txBody>
      </p:sp>
      <p:sp>
        <p:nvSpPr>
          <p:cNvPr id="6" name="Carte ROLE"/>
          <p:cNvSpPr/>
          <p:nvPr/>
        </p:nvSpPr>
        <p:spPr>
          <a:xfrm>
            <a:off x="6858000" y="1965960"/>
            <a:ext cx="4206240" cy="850392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Entête ROLE"/>
          <p:cNvSpPr txBox="1"/>
          <p:nvPr/>
        </p:nvSpPr>
        <p:spPr>
          <a:xfrm>
            <a:off x="6858000" y="1463040"/>
            <a:ext cx="4206240" cy="5029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ROLE</a:t>
            </a:r>
            <a:endParaRPr lang="en-US" sz="1600" dirty="0"/>
          </a:p>
        </p:txBody>
      </p:sp>
      <p:sp>
        <p:nvSpPr>
          <p:cNvPr id="8" name="Attributs ROLE"/>
          <p:cNvSpPr txBox="1"/>
          <p:nvPr/>
        </p:nvSpPr>
        <p:spPr>
          <a:xfrm>
            <a:off x="7086600" y="20848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id_role (PK)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libelle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714500"/>
            <a:ext cx="155448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RELATIONS</a:t>
            </a:r>
            <a:endParaRPr lang="en-US" sz="1200" dirty="0"/>
          </a:p>
        </p:txBody>
      </p:sp>
      <p:sp>
        <p:nvSpPr>
          <p:cNvPr id="11" name="Relation 1"/>
          <p:cNvSpPr/>
          <p:nvPr/>
        </p:nvSpPr>
        <p:spPr>
          <a:xfrm>
            <a:off x="548640" y="4937760"/>
            <a:ext cx="539496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12064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5120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possède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6875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Utilisateur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Role  (0,N)</a:t>
            </a:r>
            <a:endParaRPr lang="en-US" sz="1400" dirty="0"/>
          </a:p>
        </p:txBody>
      </p:sp>
      <p:sp>
        <p:nvSpPr>
          <p:cNvPr id="15" name="Relation 4"/>
          <p:cNvSpPr/>
          <p:nvPr/>
        </p:nvSpPr>
        <p:spPr>
          <a:xfrm>
            <a:off x="6217920" y="4937760"/>
            <a:ext cx="539496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512064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5120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enregistre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56875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Mouvement_stock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Utilisateur  (0,N)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 · Catalogue et stock</a:t>
            </a:r>
            <a:endParaRPr lang="en-US" sz="3600" dirty="0"/>
          </a:p>
        </p:txBody>
      </p:sp>
      <p:sp>
        <p:nvSpPr>
          <p:cNvPr id="3" name="Carte CATEGORIE"/>
          <p:cNvSpPr/>
          <p:nvPr/>
        </p:nvSpPr>
        <p:spPr>
          <a:xfrm>
            <a:off x="563728" y="1965960"/>
            <a:ext cx="3383280" cy="1161288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Entête CATEGORIE"/>
          <p:cNvSpPr txBox="1"/>
          <p:nvPr/>
        </p:nvSpPr>
        <p:spPr>
          <a:xfrm>
            <a:off x="563728" y="1463040"/>
            <a:ext cx="338328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CATEGORIE</a:t>
            </a:r>
            <a:endParaRPr lang="en-US" sz="1600" dirty="0"/>
          </a:p>
        </p:txBody>
      </p:sp>
      <p:sp>
        <p:nvSpPr>
          <p:cNvPr id="5" name="Attributs CATEGORIE"/>
          <p:cNvSpPr txBox="1"/>
          <p:nvPr/>
        </p:nvSpPr>
        <p:spPr>
          <a:xfrm>
            <a:off x="792328" y="2084832"/>
            <a:ext cx="2926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id_categorie (PK)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nom_categorie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description</a:t>
            </a:r>
            <a:endParaRPr lang="en-US" sz="1400" dirty="0"/>
          </a:p>
        </p:txBody>
      </p:sp>
      <p:sp>
        <p:nvSpPr>
          <p:cNvPr id="6" name="Carte PRODUIT"/>
          <p:cNvSpPr/>
          <p:nvPr/>
        </p:nvSpPr>
        <p:spPr>
          <a:xfrm>
            <a:off x="4404208" y="1965960"/>
            <a:ext cx="3383280" cy="2404872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Entête PRODUIT"/>
          <p:cNvSpPr txBox="1"/>
          <p:nvPr/>
        </p:nvSpPr>
        <p:spPr>
          <a:xfrm>
            <a:off x="4404208" y="1463040"/>
            <a:ext cx="338328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PRODUIT</a:t>
            </a:r>
            <a:endParaRPr lang="en-US" sz="1600" dirty="0"/>
          </a:p>
        </p:txBody>
      </p:sp>
      <p:sp>
        <p:nvSpPr>
          <p:cNvPr id="8" name="Attributs PRODUIT"/>
          <p:cNvSpPr txBox="1"/>
          <p:nvPr/>
        </p:nvSpPr>
        <p:spPr>
          <a:xfrm>
            <a:off x="4632808" y="2084832"/>
            <a:ext cx="29260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id_produit (PK)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reference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nom_produit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description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prix_unitaire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quantite_stock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seuil_alerte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47008" y="1714500"/>
            <a:ext cx="4572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0" name="Carte MOUVEMENT_STOCK"/>
          <p:cNvSpPr/>
          <p:nvPr/>
        </p:nvSpPr>
        <p:spPr>
          <a:xfrm>
            <a:off x="8244688" y="1965960"/>
            <a:ext cx="3383280" cy="1472184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Entête MOUVEMENT_STOCK"/>
          <p:cNvSpPr txBox="1"/>
          <p:nvPr/>
        </p:nvSpPr>
        <p:spPr>
          <a:xfrm>
            <a:off x="8244688" y="1463040"/>
            <a:ext cx="338328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MOUVEMENT_STOCK</a:t>
            </a:r>
            <a:endParaRPr lang="en-US" sz="1600" dirty="0"/>
          </a:p>
        </p:txBody>
      </p:sp>
      <p:sp>
        <p:nvSpPr>
          <p:cNvPr id="12" name="Attributs MOUVEMENT_STOCK"/>
          <p:cNvSpPr txBox="1"/>
          <p:nvPr/>
        </p:nvSpPr>
        <p:spPr>
          <a:xfrm>
            <a:off x="8473288" y="2084832"/>
            <a:ext cx="2926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id_mouvement (PK)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type_mouvement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quantite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date_mouvement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87488" y="1714500"/>
            <a:ext cx="4572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RELATIONS</a:t>
            </a:r>
            <a:endParaRPr lang="en-US" sz="1200" dirty="0"/>
          </a:p>
        </p:txBody>
      </p:sp>
      <p:sp>
        <p:nvSpPr>
          <p:cNvPr id="15" name="Relation 2"/>
          <p:cNvSpPr/>
          <p:nvPr/>
        </p:nvSpPr>
        <p:spPr>
          <a:xfrm>
            <a:off x="548640" y="4937760"/>
            <a:ext cx="350520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120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20640"/>
            <a:ext cx="259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appartient à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687568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Produit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Categorie  (1,N)</a:t>
            </a:r>
            <a:endParaRPr lang="en-US" sz="1400" dirty="0"/>
          </a:p>
        </p:txBody>
      </p:sp>
      <p:sp>
        <p:nvSpPr>
          <p:cNvPr id="19" name="Relation 3"/>
          <p:cNvSpPr/>
          <p:nvPr/>
        </p:nvSpPr>
        <p:spPr>
          <a:xfrm>
            <a:off x="4328160" y="4937760"/>
            <a:ext cx="350520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11040" y="5120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59680" y="5120640"/>
            <a:ext cx="259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concerne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11040" y="5687568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Mouvement_stock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Produit  (0,N)</a:t>
            </a:r>
            <a:endParaRPr lang="en-US" sz="1400" dirty="0"/>
          </a:p>
        </p:txBody>
      </p:sp>
      <p:sp>
        <p:nvSpPr>
          <p:cNvPr id="23" name="Relation 4"/>
          <p:cNvSpPr/>
          <p:nvPr/>
        </p:nvSpPr>
        <p:spPr>
          <a:xfrm>
            <a:off x="8107680" y="4937760"/>
            <a:ext cx="350520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0560" y="5120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839200" y="5120640"/>
            <a:ext cx="259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enregistre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90560" y="5687568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Mouvement_stock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Utilisateur  (0,N)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3 · Clients et commandes</a:t>
            </a:r>
            <a:endParaRPr lang="en-US" sz="3600" dirty="0"/>
          </a:p>
        </p:txBody>
      </p:sp>
      <p:sp>
        <p:nvSpPr>
          <p:cNvPr id="3" name="Carte CLIENT"/>
          <p:cNvSpPr/>
          <p:nvPr/>
        </p:nvSpPr>
        <p:spPr>
          <a:xfrm>
            <a:off x="563728" y="1965960"/>
            <a:ext cx="3383280" cy="2093976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Entête CLIENT"/>
          <p:cNvSpPr txBox="1"/>
          <p:nvPr/>
        </p:nvSpPr>
        <p:spPr>
          <a:xfrm>
            <a:off x="563728" y="1463040"/>
            <a:ext cx="338328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CLIENT</a:t>
            </a:r>
            <a:endParaRPr lang="en-US" sz="1600" dirty="0"/>
          </a:p>
        </p:txBody>
      </p:sp>
      <p:sp>
        <p:nvSpPr>
          <p:cNvPr id="5" name="Attributs CLIENT"/>
          <p:cNvSpPr txBox="1"/>
          <p:nvPr/>
        </p:nvSpPr>
        <p:spPr>
          <a:xfrm>
            <a:off x="792328" y="2084832"/>
            <a:ext cx="29260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id_client (PK)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prenom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telephone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email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adresse</a:t>
            </a:r>
            <a:endParaRPr lang="en-US" sz="1400" dirty="0"/>
          </a:p>
        </p:txBody>
      </p:sp>
      <p:sp>
        <p:nvSpPr>
          <p:cNvPr id="6" name="Carte COMMANDE"/>
          <p:cNvSpPr/>
          <p:nvPr/>
        </p:nvSpPr>
        <p:spPr>
          <a:xfrm>
            <a:off x="4404208" y="1965960"/>
            <a:ext cx="3383280" cy="1161288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Entête COMMANDE"/>
          <p:cNvSpPr txBox="1"/>
          <p:nvPr/>
        </p:nvSpPr>
        <p:spPr>
          <a:xfrm>
            <a:off x="4404208" y="1463040"/>
            <a:ext cx="338328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COMMANDE</a:t>
            </a:r>
            <a:endParaRPr lang="en-US" sz="1600" dirty="0"/>
          </a:p>
        </p:txBody>
      </p:sp>
      <p:sp>
        <p:nvSpPr>
          <p:cNvPr id="8" name="Attributs COMMANDE"/>
          <p:cNvSpPr txBox="1"/>
          <p:nvPr/>
        </p:nvSpPr>
        <p:spPr>
          <a:xfrm>
            <a:off x="4632808" y="2084832"/>
            <a:ext cx="2926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id_commande (PK)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date_commande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statut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47008" y="1714500"/>
            <a:ext cx="4572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0" name="Carte LIGNE_COMMANDE"/>
          <p:cNvSpPr/>
          <p:nvPr/>
        </p:nvSpPr>
        <p:spPr>
          <a:xfrm>
            <a:off x="8244688" y="1965960"/>
            <a:ext cx="3383280" cy="850392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Entête LIGNE_COMMANDE"/>
          <p:cNvSpPr txBox="1"/>
          <p:nvPr/>
        </p:nvSpPr>
        <p:spPr>
          <a:xfrm>
            <a:off x="8244688" y="1463040"/>
            <a:ext cx="338328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LIGNE_COMMANDE</a:t>
            </a:r>
            <a:endParaRPr lang="en-US" sz="1600" dirty="0"/>
          </a:p>
        </p:txBody>
      </p:sp>
      <p:sp>
        <p:nvSpPr>
          <p:cNvPr id="12" name="Attributs LIGNE_COMMANDE"/>
          <p:cNvSpPr txBox="1"/>
          <p:nvPr/>
        </p:nvSpPr>
        <p:spPr>
          <a:xfrm>
            <a:off x="8473288" y="20848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quantite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prix_unitaire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87488" y="1714500"/>
            <a:ext cx="4572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RELATIONS</a:t>
            </a:r>
            <a:endParaRPr lang="en-US" sz="1200" dirty="0"/>
          </a:p>
        </p:txBody>
      </p:sp>
      <p:sp>
        <p:nvSpPr>
          <p:cNvPr id="15" name="Relation 5"/>
          <p:cNvSpPr/>
          <p:nvPr/>
        </p:nvSpPr>
        <p:spPr>
          <a:xfrm>
            <a:off x="548640" y="4937760"/>
            <a:ext cx="350520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1206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20640"/>
            <a:ext cx="259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passe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687568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Commande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  (0,N)</a:t>
            </a:r>
            <a:endParaRPr lang="en-US" sz="1400" dirty="0"/>
          </a:p>
        </p:txBody>
      </p:sp>
      <p:sp>
        <p:nvSpPr>
          <p:cNvPr id="19" name="Relation 6"/>
          <p:cNvSpPr/>
          <p:nvPr/>
        </p:nvSpPr>
        <p:spPr>
          <a:xfrm>
            <a:off x="4328160" y="4937760"/>
            <a:ext cx="350520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11040" y="51206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59680" y="5120640"/>
            <a:ext cx="259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contient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11040" y="5687568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Ligne_commande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Commande  (1,N)</a:t>
            </a:r>
            <a:endParaRPr lang="en-US" sz="1400" dirty="0"/>
          </a:p>
        </p:txBody>
      </p:sp>
      <p:sp>
        <p:nvSpPr>
          <p:cNvPr id="23" name="Relation 7"/>
          <p:cNvSpPr/>
          <p:nvPr/>
        </p:nvSpPr>
        <p:spPr>
          <a:xfrm>
            <a:off x="8107680" y="4937760"/>
            <a:ext cx="350520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0560" y="51206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839200" y="5120640"/>
            <a:ext cx="259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concerne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90560" y="5687568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Ligne_commande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Produit  (0,N)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4 · Ventes et facturation</a:t>
            </a:r>
            <a:endParaRPr lang="en-US" sz="3600" dirty="0"/>
          </a:p>
        </p:txBody>
      </p:sp>
      <p:sp>
        <p:nvSpPr>
          <p:cNvPr id="3" name="Carte LIGNE_VENTE"/>
          <p:cNvSpPr/>
          <p:nvPr/>
        </p:nvSpPr>
        <p:spPr>
          <a:xfrm>
            <a:off x="563728" y="1965960"/>
            <a:ext cx="3383280" cy="850392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Entête LIGNE_VENTE"/>
          <p:cNvSpPr txBox="1"/>
          <p:nvPr/>
        </p:nvSpPr>
        <p:spPr>
          <a:xfrm>
            <a:off x="563728" y="1463040"/>
            <a:ext cx="338328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LIGNE_VENTE</a:t>
            </a:r>
            <a:endParaRPr lang="en-US" sz="1600" dirty="0"/>
          </a:p>
        </p:txBody>
      </p:sp>
      <p:sp>
        <p:nvSpPr>
          <p:cNvPr id="5" name="Attributs LIGNE_VENTE"/>
          <p:cNvSpPr txBox="1"/>
          <p:nvPr/>
        </p:nvSpPr>
        <p:spPr>
          <a:xfrm>
            <a:off x="792328" y="20848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quantite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prix_unitaire</a:t>
            </a:r>
            <a:endParaRPr lang="en-US" sz="1400" dirty="0"/>
          </a:p>
        </p:txBody>
      </p:sp>
      <p:sp>
        <p:nvSpPr>
          <p:cNvPr id="6" name="Carte VENTE"/>
          <p:cNvSpPr/>
          <p:nvPr/>
        </p:nvSpPr>
        <p:spPr>
          <a:xfrm>
            <a:off x="4404208" y="1965960"/>
            <a:ext cx="3383280" cy="1161288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Entête VENTE"/>
          <p:cNvSpPr txBox="1"/>
          <p:nvPr/>
        </p:nvSpPr>
        <p:spPr>
          <a:xfrm>
            <a:off x="4404208" y="1463040"/>
            <a:ext cx="338328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VENTE</a:t>
            </a:r>
            <a:endParaRPr lang="en-US" sz="1600" dirty="0"/>
          </a:p>
        </p:txBody>
      </p:sp>
      <p:sp>
        <p:nvSpPr>
          <p:cNvPr id="8" name="Attributs VENTE"/>
          <p:cNvSpPr txBox="1"/>
          <p:nvPr/>
        </p:nvSpPr>
        <p:spPr>
          <a:xfrm>
            <a:off x="4632808" y="2084832"/>
            <a:ext cx="2926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id_vente (PK)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date_vente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montant_total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47008" y="1714500"/>
            <a:ext cx="4572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0" name="Carte FACTURE"/>
          <p:cNvSpPr/>
          <p:nvPr/>
        </p:nvSpPr>
        <p:spPr>
          <a:xfrm>
            <a:off x="8244688" y="1965960"/>
            <a:ext cx="3383280" cy="178308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Entête FACTURE"/>
          <p:cNvSpPr txBox="1"/>
          <p:nvPr/>
        </p:nvSpPr>
        <p:spPr>
          <a:xfrm>
            <a:off x="8244688" y="1463040"/>
            <a:ext cx="338328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FACTURE</a:t>
            </a:r>
            <a:endParaRPr lang="en-US" sz="1600" dirty="0"/>
          </a:p>
        </p:txBody>
      </p:sp>
      <p:sp>
        <p:nvSpPr>
          <p:cNvPr id="12" name="Attributs FACTURE"/>
          <p:cNvSpPr txBox="1"/>
          <p:nvPr/>
        </p:nvSpPr>
        <p:spPr>
          <a:xfrm>
            <a:off x="8473288" y="208483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id_facture (PK)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numero_facture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date_facture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montant_total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chemin_pdf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87488" y="1714500"/>
            <a:ext cx="4572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RELATIONS</a:t>
            </a:r>
            <a:endParaRPr lang="en-US" sz="1200" dirty="0"/>
          </a:p>
        </p:txBody>
      </p:sp>
      <p:sp>
        <p:nvSpPr>
          <p:cNvPr id="15" name="Relation 8"/>
          <p:cNvSpPr/>
          <p:nvPr/>
        </p:nvSpPr>
        <p:spPr>
          <a:xfrm>
            <a:off x="548640" y="4937760"/>
            <a:ext cx="256032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1206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20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effectue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687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Vente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  (0,N)</a:t>
            </a:r>
            <a:endParaRPr lang="en-US" sz="1400" dirty="0"/>
          </a:p>
        </p:txBody>
      </p:sp>
      <p:sp>
        <p:nvSpPr>
          <p:cNvPr id="19" name="Relation 9"/>
          <p:cNvSpPr/>
          <p:nvPr/>
        </p:nvSpPr>
        <p:spPr>
          <a:xfrm>
            <a:off x="3383280" y="4937760"/>
            <a:ext cx="256032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51206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120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contient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5687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Ligne_vente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Vente  (1,N)</a:t>
            </a:r>
            <a:endParaRPr lang="en-US" sz="1400" dirty="0"/>
          </a:p>
        </p:txBody>
      </p:sp>
      <p:sp>
        <p:nvSpPr>
          <p:cNvPr id="23" name="Relation 10"/>
          <p:cNvSpPr/>
          <p:nvPr/>
        </p:nvSpPr>
        <p:spPr>
          <a:xfrm>
            <a:off x="6217920" y="4937760"/>
            <a:ext cx="256032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51206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5120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concerne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687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Ligne_vente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Produit  (0,N)</a:t>
            </a:r>
            <a:endParaRPr lang="en-US" sz="1400" dirty="0"/>
          </a:p>
        </p:txBody>
      </p:sp>
      <p:sp>
        <p:nvSpPr>
          <p:cNvPr id="27" name="Relation 11"/>
          <p:cNvSpPr/>
          <p:nvPr/>
        </p:nvSpPr>
        <p:spPr>
          <a:xfrm>
            <a:off x="9052560" y="4937760"/>
            <a:ext cx="2560320" cy="13716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35440" y="51206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784080" y="5120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génère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5687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Vente  (1,1)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Facture  (1,1)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Carte des relations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194560" y="171450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0" y="171450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71450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71450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5577840" y="1965960"/>
            <a:ext cx="2103120" cy="9601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1965960"/>
            <a:ext cx="457200" cy="9601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3429000"/>
            <a:ext cx="0" cy="9601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3429000"/>
            <a:ext cx="0" cy="9601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4640580"/>
            <a:ext cx="7315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4892040"/>
            <a:ext cx="1280160" cy="7772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858000" y="4892040"/>
            <a:ext cx="1280160" cy="7772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4" name="Boîte Role"/>
          <p:cNvSpPr txBox="1"/>
          <p:nvPr/>
        </p:nvSpPr>
        <p:spPr>
          <a:xfrm>
            <a:off x="548640" y="1463040"/>
            <a:ext cx="1645920" cy="5029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Role</a:t>
            </a:r>
            <a:endParaRPr lang="en-US" sz="1400" dirty="0"/>
          </a:p>
        </p:txBody>
      </p:sp>
      <p:sp>
        <p:nvSpPr>
          <p:cNvPr id="15" name="Boîte Utilisateur"/>
          <p:cNvSpPr txBox="1"/>
          <p:nvPr/>
        </p:nvSpPr>
        <p:spPr>
          <a:xfrm>
            <a:off x="2651760" y="1463040"/>
            <a:ext cx="1645920" cy="5029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Utilisateur</a:t>
            </a:r>
            <a:endParaRPr lang="en-US" sz="1400" dirty="0"/>
          </a:p>
        </p:txBody>
      </p:sp>
      <p:sp>
        <p:nvSpPr>
          <p:cNvPr id="16" name="Boîte Mouvement_stock"/>
          <p:cNvSpPr txBox="1"/>
          <p:nvPr/>
        </p:nvSpPr>
        <p:spPr>
          <a:xfrm>
            <a:off x="4754880" y="1463040"/>
            <a:ext cx="1645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Mouvement_stock</a:t>
            </a:r>
            <a:endParaRPr lang="en-US" sz="1400" dirty="0"/>
          </a:p>
        </p:txBody>
      </p:sp>
      <p:sp>
        <p:nvSpPr>
          <p:cNvPr id="17" name="Boîte Produit"/>
          <p:cNvSpPr txBox="1"/>
          <p:nvPr/>
        </p:nvSpPr>
        <p:spPr>
          <a:xfrm>
            <a:off x="6858000" y="1463040"/>
            <a:ext cx="1645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Produit</a:t>
            </a:r>
            <a:endParaRPr lang="en-US" sz="1400" dirty="0"/>
          </a:p>
        </p:txBody>
      </p:sp>
      <p:sp>
        <p:nvSpPr>
          <p:cNvPr id="18" name="Boîte Categorie"/>
          <p:cNvSpPr txBox="1"/>
          <p:nvPr/>
        </p:nvSpPr>
        <p:spPr>
          <a:xfrm>
            <a:off x="8961120" y="1463040"/>
            <a:ext cx="1645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Categorie</a:t>
            </a:r>
            <a:endParaRPr lang="en-US" sz="1400" dirty="0"/>
          </a:p>
        </p:txBody>
      </p:sp>
      <p:sp>
        <p:nvSpPr>
          <p:cNvPr id="19" name="Boîte Ligne_commande"/>
          <p:cNvSpPr txBox="1"/>
          <p:nvPr/>
        </p:nvSpPr>
        <p:spPr>
          <a:xfrm>
            <a:off x="4754880" y="2926080"/>
            <a:ext cx="1645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Ligne_commande</a:t>
            </a:r>
            <a:endParaRPr lang="en-US" sz="1400" dirty="0"/>
          </a:p>
        </p:txBody>
      </p:sp>
      <p:sp>
        <p:nvSpPr>
          <p:cNvPr id="20" name="Boîte Ligne_vente"/>
          <p:cNvSpPr txBox="1"/>
          <p:nvPr/>
        </p:nvSpPr>
        <p:spPr>
          <a:xfrm>
            <a:off x="7315200" y="2926080"/>
            <a:ext cx="164592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Ligne_vente</a:t>
            </a:r>
            <a:endParaRPr lang="en-US" sz="1400" dirty="0"/>
          </a:p>
        </p:txBody>
      </p:sp>
      <p:sp>
        <p:nvSpPr>
          <p:cNvPr id="21" name="Boîte Commande"/>
          <p:cNvSpPr txBox="1"/>
          <p:nvPr/>
        </p:nvSpPr>
        <p:spPr>
          <a:xfrm>
            <a:off x="4754880" y="4389120"/>
            <a:ext cx="1645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Commande</a:t>
            </a:r>
            <a:endParaRPr lang="en-US" sz="1400" dirty="0"/>
          </a:p>
        </p:txBody>
      </p:sp>
      <p:sp>
        <p:nvSpPr>
          <p:cNvPr id="22" name="Boîte Vente"/>
          <p:cNvSpPr txBox="1"/>
          <p:nvPr/>
        </p:nvSpPr>
        <p:spPr>
          <a:xfrm>
            <a:off x="7315200" y="4389120"/>
            <a:ext cx="164592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Vente</a:t>
            </a:r>
            <a:endParaRPr lang="en-US" sz="1400" dirty="0"/>
          </a:p>
        </p:txBody>
      </p:sp>
      <p:sp>
        <p:nvSpPr>
          <p:cNvPr id="23" name="Boîte Facture"/>
          <p:cNvSpPr txBox="1"/>
          <p:nvPr/>
        </p:nvSpPr>
        <p:spPr>
          <a:xfrm>
            <a:off x="9692640" y="4389120"/>
            <a:ext cx="1645920" cy="5029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Facture</a:t>
            </a:r>
            <a:endParaRPr lang="en-US" sz="1400" dirty="0"/>
          </a:p>
        </p:txBody>
      </p:sp>
      <p:sp>
        <p:nvSpPr>
          <p:cNvPr id="24" name="Boîte Client"/>
          <p:cNvSpPr txBox="1"/>
          <p:nvPr/>
        </p:nvSpPr>
        <p:spPr>
          <a:xfrm>
            <a:off x="6035040" y="5669280"/>
            <a:ext cx="1645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267712" y="155905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370832" y="155905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155905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577072" y="155905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229057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54112" y="229057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22392" y="375361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982712" y="375361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71432" y="448513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062472" y="512521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342632" y="5125212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DOMAINES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3474720"/>
            <a:ext cx="274320" cy="2743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584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Accès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3931920"/>
            <a:ext cx="274320" cy="2743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584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Catalogue &amp; stock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4389120"/>
            <a:ext cx="274320" cy="2743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05840" y="4343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Commandes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" y="4846320"/>
            <a:ext cx="274320" cy="2743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0584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Ventes &amp; facturation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394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Les numéros renvoient au tableau des relations.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Les 11 relations du modèle</a:t>
            </a:r>
            <a:endParaRPr lang="en-US" sz="3600" dirty="0"/>
          </a:p>
        </p:txBody>
      </p:sp>
      <p:graphicFrame>
        <p:nvGraphicFramePr>
          <p:cNvPr id="9" name="Tableau rela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2743200"/>
                <a:gridCol w="1188720"/>
                <a:gridCol w="30175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Relation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Entité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Card.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Entité liée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Card.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possède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Utilisateur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(0,N)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appartient à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Produit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Categorie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concerne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Mouvement_stock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Produit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(0,N)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enregistre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Mouvement_stock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Utilisateur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(0,N)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passe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Commande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Client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(0,N)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contient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Ligne_commande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Commande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concerne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Ligne_commande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Produit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(0,N)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effectue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Vente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Client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(0,N)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contient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Ligne_vente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Vente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concerne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Ligne_vente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Produit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(0,N)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génère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Vente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Facture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(1,1)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Points à vérifier avant de passer au MLD</a:t>
            </a:r>
            <a:endParaRPr lang="en-US" sz="3600" dirty="0"/>
          </a:p>
        </p:txBody>
      </p:sp>
      <p:sp>
        <p:nvSpPr>
          <p:cNvPr id="3" name="Point 1"/>
          <p:cNvSpPr/>
          <p:nvPr/>
        </p:nvSpPr>
        <p:spPr>
          <a:xfrm>
            <a:off x="563728" y="1554480"/>
            <a:ext cx="3383280" cy="384048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8048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38048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Cardinalités à harmoniser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38048" y="34747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Dans le schéma d'origine, certaines cardinalités sont placées côté « un » et d'autres côté « plusieurs ». Ici, chaque (min,max) est lu à côté de l'entité qu'il décrit. À confirmer.</a:t>
            </a:r>
            <a:endParaRPr lang="en-US" sz="1400" dirty="0"/>
          </a:p>
        </p:txBody>
      </p:sp>
      <p:sp>
        <p:nvSpPr>
          <p:cNvPr id="7" name="Point 2"/>
          <p:cNvSpPr/>
          <p:nvPr/>
        </p:nvSpPr>
        <p:spPr>
          <a:xfrm>
            <a:off x="4404208" y="1554480"/>
            <a:ext cx="3383280" cy="384048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78528" y="1828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78528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Règles de gestion à préciser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78528" y="34747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Valeurs possibles de type_mouvement et de statut (entrée, sortie, en cours, livrée…). Une commande devient-elle une vente ? Le modèle ne l'indique pas.</a:t>
            </a:r>
            <a:endParaRPr lang="en-US" sz="1400" dirty="0"/>
          </a:p>
        </p:txBody>
      </p:sp>
      <p:sp>
        <p:nvSpPr>
          <p:cNvPr id="11" name="Point 3"/>
          <p:cNvSpPr/>
          <p:nvPr/>
        </p:nvSpPr>
        <p:spPr>
          <a:xfrm>
            <a:off x="8244688" y="1554480"/>
            <a:ext cx="3383280" cy="384048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19008" y="18288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519008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Redondances à décider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519008" y="34747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quantite_stock peut se déduire des mouvements, et montant_total des lignes de vente. Les stocker pour aller plus vite, ou les calculer à chaque fois 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D Stock Ventes">
  <a:themeElements>
    <a:clrScheme name="MCD Stock Ventes">
      <a:dk1>
        <a:srgbClr val="1B2733"/>
      </a:dk1>
      <a:lt1>
        <a:srgbClr val="FFFFFF"/>
      </a:lt1>
      <a:dk2>
        <a:srgbClr val="1D3B5A"/>
      </a:dk2>
      <a:lt2>
        <a:srgbClr val="F3F5F8"/>
      </a:lt2>
      <a:accent1>
        <a:srgbClr val="2F6DB5"/>
      </a:accent1>
      <a:accent2>
        <a:srgbClr val="1F8A7E"/>
      </a:accent2>
      <a:accent3>
        <a:srgbClr val="C85A17"/>
      </a:accent3>
      <a:accent4>
        <a:srgbClr val="6B5CA5"/>
      </a:accent4>
      <a:accent5>
        <a:srgbClr val="6F7C89"/>
      </a:accent5>
      <a:accent6>
        <a:srgbClr val="E9B44C"/>
      </a:accent6>
      <a:hlink>
        <a:srgbClr val="1D3B5A"/>
      </a:hlink>
      <a:folHlink>
        <a:srgbClr val="6B5CA5"/>
      </a:folHlink>
    </a:clrScheme>
    <a:fontScheme name="MCD Stock Vent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 — Gestion de Stock &amp; Ventes</dc:title>
  <dc:subject>PptxGenJS Presentation</dc:subject>
  <dc:creator>PptxGenJS</dc:creator>
  <cp:lastModifiedBy>PptxGenJS</cp:lastModifiedBy>
  <cp:revision>1</cp:revision>
  <dcterms:created xsi:type="dcterms:W3CDTF">2026-10-28T09:36:56Z</dcterms:created>
  <dcterms:modified xsi:type="dcterms:W3CDTF">2026-10-28T09:36:56Z</dcterms:modified>
</cp:coreProperties>
</file>